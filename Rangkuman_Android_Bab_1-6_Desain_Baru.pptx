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685800"/>
            <a:ext cx="1920240" cy="192024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201168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66760" y="2880360"/>
            <a:ext cx="2423160" cy="2423160"/>
          </a:xfrm>
          <a:prstGeom prst="ellipse">
            <a:avLst/>
          </a:prstGeom>
          <a:solidFill>
            <a:srgbClr val="2C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55480" y="3977639"/>
            <a:ext cx="1417320" cy="1417320"/>
          </a:xfrm>
          <a:prstGeom prst="ellipse">
            <a:avLst/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777240"/>
            <a:ext cx="54864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87033"/>
                </a:solidFill>
                <a:latin typeface="Aptos"/>
              </a:rPr>
              <a:t>RANGKUMAN MATERI • BAB 1–6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6949440" cy="1508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3500" b="1">
                <a:solidFill>
                  <a:srgbClr val="242B30"/>
                </a:solidFill>
                <a:latin typeface="Aptos"/>
              </a:rPr>
              <a:t>PEMROGRAMAN
MOBILE 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46120"/>
            <a:ext cx="603504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646C6F"/>
                </a:solidFill>
                <a:latin typeface="Aptos"/>
              </a:rPr>
              <a:t>Dari dasar Android sampai penyimpanan data Firebase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4206240"/>
            <a:ext cx="1051560" cy="64008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572000"/>
            <a:ext cx="521208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46C6F"/>
                </a:solidFill>
                <a:latin typeface="Aptos"/>
              </a:rPr>
              <a:t>Berbasis buku Erma Susanti
Desember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6053328"/>
            <a:ext cx="32004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ANDROID • JAVA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PETA MATERI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Enam bab, satu alur pembelajaran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Dari pengenalan platform hingga data yang tersimpan di layanan cloud.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2450591"/>
            <a:ext cx="640080" cy="640080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633472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450591"/>
            <a:ext cx="2148840" cy="6858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Pengenalan Android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9456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450591"/>
            <a:ext cx="640080" cy="64008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633472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2B3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0408" y="2450591"/>
            <a:ext cx="2148840" cy="6858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Activity • Intent • Fragment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19456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22208" y="2450591"/>
            <a:ext cx="640080" cy="640080"/>
          </a:xfrm>
          <a:prstGeom prst="ellipse">
            <a:avLst/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2633472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2450591"/>
            <a:ext cx="2148840" cy="6858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UI/UX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4096512"/>
            <a:ext cx="640080" cy="640080"/>
          </a:xfrm>
          <a:prstGeom prst="ellipse">
            <a:avLst/>
          </a:prstGeom>
          <a:solidFill>
            <a:srgbClr val="2C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79392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096512"/>
            <a:ext cx="2148840" cy="6858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Background Task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84048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27448" y="4096512"/>
            <a:ext cx="640080" cy="640080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4279392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0408" y="4096512"/>
            <a:ext cx="2148840" cy="6858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Penyimpanan lokal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840480"/>
            <a:ext cx="34290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22208" y="4096512"/>
            <a:ext cx="640080" cy="64008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4279392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2B30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8" y="4096512"/>
            <a:ext cx="2148840" cy="685800"/>
          </a:xfrm>
          <a:prstGeom prst="rect">
            <a:avLst/>
          </a:prstGeom>
          <a:noFill/>
        </p:spPr>
        <p:txBody>
          <a:bodyPr wrap="square" lIns="27432" rIns="27432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Firebase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BAB 1 • FONDASI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Kenali platform sebelum mulai membuat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Bab awal memperkenalkan Android dan lingkungan pengembangan.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703320" cy="3474720"/>
          </a:xfrm>
          <a:prstGeom prst="roundRect">
            <a:avLst>
              <a:gd name="adj" fmla="val 12000"/>
            </a:avLst>
          </a:prstGeom>
          <a:solidFill>
            <a:srgbClr val="2C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30175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2971800" cy="11887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0">
                <a:solidFill>
                  <a:srgbClr val="EBE8DF"/>
                </a:solidFill>
                <a:latin typeface="Aptos"/>
              </a:rPr>
              <a:t>Platform untuk menjalankan aplikasi pada perangkat bergerak.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7492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B84B"/>
                </a:solidFill>
                <a:latin typeface="Aptos"/>
              </a:rPr>
              <a:t>Pahami ekosistemnya dahulu.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2148840"/>
            <a:ext cx="28346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2148840"/>
            <a:ext cx="82296" cy="1508760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295144"/>
            <a:ext cx="24688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E87033"/>
                </a:solidFill>
                <a:latin typeface="Aptos"/>
              </a:rPr>
              <a:t>KONSEP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560320"/>
            <a:ext cx="24231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42B30"/>
                </a:solidFill>
                <a:latin typeface="Aptos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99232"/>
            <a:ext cx="2395728" cy="56692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Lingkungan tempat aplikasi Android berjalan.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214884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2148840"/>
            <a:ext cx="82296" cy="1508760"/>
          </a:xfrm>
          <a:prstGeom prst="rect">
            <a:avLst/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295144"/>
            <a:ext cx="306324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6F8E77"/>
                </a:solidFill>
                <a:latin typeface="Aptos"/>
              </a:rPr>
              <a:t>TEKNOLOGI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560320"/>
            <a:ext cx="30175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42B30"/>
                </a:solidFill>
                <a:latin typeface="Aptos"/>
              </a:rPr>
              <a:t>Bahasa Java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999232"/>
            <a:ext cx="2990088" cy="56692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Bahasa pemrograman yang digunakan dalam materi buku.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977639"/>
            <a:ext cx="653796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00600" y="3977639"/>
            <a:ext cx="82296" cy="1645920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4123944"/>
            <a:ext cx="617220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F2B84B"/>
                </a:solidFill>
                <a:latin typeface="Aptos"/>
              </a:rPr>
              <a:t>PERANGKAT KERJA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389120"/>
            <a:ext cx="61264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42B30"/>
                </a:solidFill>
                <a:latin typeface="Aptos"/>
              </a:rPr>
              <a:t>Android Studio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828031"/>
            <a:ext cx="6099048" cy="704087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Lingkungan pengembangan untuk menulis kode, mengatur proyek, dan menjalankan aplikasi selama proses pembuatan.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BAB 2 • STRUKTUR APLIKASI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Tiga komponen dengan tugas yang berbeda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Activity, Intent, dan Fragment bekerja bersama dalam aplikasi.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38328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606040"/>
            <a:ext cx="640080" cy="640080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28346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2B30"/>
                </a:solidFill>
                <a:latin typeface="Aptos"/>
              </a:rPr>
              <a:t>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28346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6C6F"/>
                </a:solidFill>
                <a:latin typeface="Aptos"/>
              </a:rPr>
              <a:t>Bagian utama atau layar tempat pengguna berinteraksi.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331720"/>
            <a:ext cx="338328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0" y="2606040"/>
            <a:ext cx="640080" cy="64008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788920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2B30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520440"/>
            <a:ext cx="28346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2B30"/>
                </a:solidFill>
                <a:latin typeface="Aptos"/>
              </a:rPr>
              <a:t>INTENT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14800"/>
            <a:ext cx="28346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6C6F"/>
                </a:solidFill>
                <a:latin typeface="Aptos"/>
              </a:rPr>
              <a:t>Menyampaikan permintaan atau menghubungkan komponen untuk melakukan aksi.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331720"/>
            <a:ext cx="3383280" cy="2971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49640" y="2606040"/>
            <a:ext cx="640080" cy="640080"/>
          </a:xfrm>
          <a:prstGeom prst="ellipse">
            <a:avLst/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788920"/>
            <a:ext cx="64008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520440"/>
            <a:ext cx="28346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2B30"/>
                </a:solidFill>
                <a:latin typeface="Aptos"/>
              </a:rPr>
              <a:t>FRAGMENT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114800"/>
            <a:ext cx="283464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6C6F"/>
                </a:solidFill>
                <a:latin typeface="Aptos"/>
              </a:rPr>
              <a:t>Bagian antarmuka yang dapat ditempatkan di dalam Activity.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87033"/>
                </a:solidFill>
                <a:latin typeface="Aptos"/>
              </a:rPr>
              <a:t>Ingat: Activity menjadi wadah, Intent menghubungkan aksi, Fragment membantu menyusun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BAB 3 • PENGALAMAN PENGGUNA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UI adalah tampilan, UX adalah pengalaman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Desain yang baik membantu pengguna memahami dan menyelesaikan tugas.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2423160" cy="3749039"/>
          </a:xfrm>
          <a:prstGeom prst="roundRect">
            <a:avLst>
              <a:gd name="adj" fmla="val 12000"/>
            </a:avLst>
          </a:prstGeom>
          <a:solidFill>
            <a:srgbClr val="2C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24128" y="2286000"/>
            <a:ext cx="2112264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27632" y="2148840"/>
            <a:ext cx="914400" cy="73152"/>
          </a:xfrm>
          <a:prstGeom prst="roundRect">
            <a:avLst>
              <a:gd name="adj" fmla="val 12000"/>
            </a:avLst>
          </a:prstGeom>
          <a:solidFill>
            <a:srgbClr val="2C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606040"/>
            <a:ext cx="1645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42B30"/>
                </a:solidFill>
                <a:latin typeface="Aptos"/>
              </a:rPr>
              <a:t>Beranda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4440" y="3127248"/>
            <a:ext cx="1691640" cy="438912"/>
          </a:xfrm>
          <a:prstGeom prst="roundRect">
            <a:avLst>
              <a:gd name="adj" fmla="val 12000"/>
            </a:avLst>
          </a:prstGeom>
          <a:solidFill>
            <a:srgbClr val="F4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53312" y="3246120"/>
            <a:ext cx="182880" cy="182880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4208" y="3246120"/>
            <a:ext cx="1005840" cy="64008"/>
          </a:xfrm>
          <a:prstGeom prst="roundRect">
            <a:avLst>
              <a:gd name="adj" fmla="val 12000"/>
            </a:avLst>
          </a:prstGeom>
          <a:solidFill>
            <a:srgbClr val="E0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64208" y="3401568"/>
            <a:ext cx="658368" cy="45720"/>
          </a:xfrm>
          <a:prstGeom prst="roundRect">
            <a:avLst>
              <a:gd name="adj" fmla="val 12000"/>
            </a:avLst>
          </a:prstGeom>
          <a:solidFill>
            <a:srgbClr val="E0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34440" y="3767328"/>
            <a:ext cx="1691640" cy="438912"/>
          </a:xfrm>
          <a:prstGeom prst="roundRect">
            <a:avLst>
              <a:gd name="adj" fmla="val 12000"/>
            </a:avLst>
          </a:prstGeom>
          <a:solidFill>
            <a:srgbClr val="F4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53312" y="3886200"/>
            <a:ext cx="182880" cy="18288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64208" y="3886200"/>
            <a:ext cx="1005840" cy="64008"/>
          </a:xfrm>
          <a:prstGeom prst="roundRect">
            <a:avLst>
              <a:gd name="adj" fmla="val 12000"/>
            </a:avLst>
          </a:prstGeom>
          <a:solidFill>
            <a:srgbClr val="E0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64208" y="4041648"/>
            <a:ext cx="658368" cy="45720"/>
          </a:xfrm>
          <a:prstGeom prst="roundRect">
            <a:avLst>
              <a:gd name="adj" fmla="val 12000"/>
            </a:avLst>
          </a:prstGeom>
          <a:solidFill>
            <a:srgbClr val="E0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34440" y="4407408"/>
            <a:ext cx="1691640" cy="438912"/>
          </a:xfrm>
          <a:prstGeom prst="roundRect">
            <a:avLst>
              <a:gd name="adj" fmla="val 12000"/>
            </a:avLst>
          </a:prstGeom>
          <a:solidFill>
            <a:srgbClr val="F4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53312" y="4526279"/>
            <a:ext cx="182880" cy="182880"/>
          </a:xfrm>
          <a:prstGeom prst="ellipse">
            <a:avLst/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64208" y="4526279"/>
            <a:ext cx="1005840" cy="64008"/>
          </a:xfrm>
          <a:prstGeom prst="roundRect">
            <a:avLst>
              <a:gd name="adj" fmla="val 12000"/>
            </a:avLst>
          </a:prstGeom>
          <a:solidFill>
            <a:srgbClr val="E0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64208" y="4681728"/>
            <a:ext cx="658368" cy="45720"/>
          </a:xfrm>
          <a:prstGeom prst="roundRect">
            <a:avLst>
              <a:gd name="adj" fmla="val 12000"/>
            </a:avLst>
          </a:prstGeom>
          <a:solidFill>
            <a:srgbClr val="E0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2240280"/>
            <a:ext cx="71323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100" b="1">
                <a:solidFill>
                  <a:srgbClr val="242B30"/>
                </a:solidFill>
                <a:latin typeface="Aptos"/>
              </a:rPr>
              <a:t>Apa yang perlu diperhatikan?</a:t>
            </a:r>
          </a:p>
        </p:txBody>
      </p:sp>
      <p:sp>
        <p:nvSpPr>
          <p:cNvPr id="24" name="Oval 23"/>
          <p:cNvSpPr/>
          <p:nvPr/>
        </p:nvSpPr>
        <p:spPr>
          <a:xfrm>
            <a:off x="3886200" y="2935224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2880360"/>
            <a:ext cx="6812280" cy="603503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Susun informasi dengan jelas dan konsisten.</a:t>
            </a:r>
          </a:p>
        </p:txBody>
      </p:sp>
      <p:sp>
        <p:nvSpPr>
          <p:cNvPr id="26" name="Oval 25"/>
          <p:cNvSpPr/>
          <p:nvPr/>
        </p:nvSpPr>
        <p:spPr>
          <a:xfrm>
            <a:off x="3886200" y="3593592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3538728"/>
            <a:ext cx="6812280" cy="603503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Pilih komponen sesuai kebutuhan antarmuka.</a:t>
            </a:r>
          </a:p>
        </p:txBody>
      </p:sp>
      <p:sp>
        <p:nvSpPr>
          <p:cNvPr id="28" name="Oval 27"/>
          <p:cNvSpPr/>
          <p:nvPr/>
        </p:nvSpPr>
        <p:spPr>
          <a:xfrm>
            <a:off x="3886200" y="4251959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4197096"/>
            <a:ext cx="6812280" cy="603503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Perhatikan keterbacaan dan kemudahan navigasi.</a:t>
            </a:r>
          </a:p>
        </p:txBody>
      </p:sp>
      <p:sp>
        <p:nvSpPr>
          <p:cNvPr id="30" name="Oval 29"/>
          <p:cNvSpPr/>
          <p:nvPr/>
        </p:nvSpPr>
        <p:spPr>
          <a:xfrm>
            <a:off x="3886200" y="4910328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4855464"/>
            <a:ext cx="6812280" cy="603503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ListView dan RecyclerView membantu menampilkan daftar data.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0" y="5650992"/>
            <a:ext cx="7040880" cy="438912"/>
          </a:xfrm>
          <a:prstGeom prst="roundRect">
            <a:avLst>
              <a:gd name="adj" fmla="val 12000"/>
            </a:avLst>
          </a:prstGeom>
          <a:solidFill>
            <a:srgbClr val="F4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5769864"/>
            <a:ext cx="66751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42B30"/>
                </a:solidFill>
                <a:latin typeface="Aptos"/>
              </a:rPr>
              <a:t>Tampilan menarik penting, tetapi kemudahan penggunaan juga penting.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BAB 3 • KOMPONEN DAFTAR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Menampilkan kumpulan data secara teratur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Gunakan komponen daftar berdasarkan kebutuhan antarmuka.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5074920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82296" cy="2697480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78024"/>
            <a:ext cx="4709159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E87033"/>
                </a:solidFill>
                <a:latin typeface="Aptos"/>
              </a:rPr>
              <a:t>DAFTAR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46634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42B30"/>
                </a:solidFill>
                <a:latin typeface="Aptos"/>
              </a:rPr>
              <a:t>ListView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82112"/>
            <a:ext cx="4636008" cy="17556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Menampilkan item dalam bentuk daftar. Berguna untuk memahami konsep dasar daftar di Android.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331720"/>
            <a:ext cx="5074920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82296" cy="2697480"/>
          </a:xfrm>
          <a:prstGeom prst="rect">
            <a:avLst/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78024"/>
            <a:ext cx="4709159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900" b="1">
                <a:solidFill>
                  <a:srgbClr val="6F8E77"/>
                </a:solidFill>
                <a:latin typeface="Aptos"/>
              </a:rPr>
              <a:t>DAFTAR FLEKSIBEL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743200"/>
            <a:ext cx="46634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242B30"/>
                </a:solidFill>
                <a:latin typeface="Aptos"/>
              </a:rPr>
              <a:t>RecyclerView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182112"/>
            <a:ext cx="4636008" cy="17556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Memberi fleksibilitas dalam menyusun tampilan item dan pola layout yang lebih beragam.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14984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42B30"/>
                </a:solidFill>
                <a:latin typeface="Aptos"/>
              </a:rPr>
              <a:t>Pilih komponen berdasarkan bentuk data dan cara informasi perlu ditampilkan.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BAB 4 • PROSES DI BALIK LAYAR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Pekerjaan aplikasi tidak selalu berlangsung di layar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Background task membantu pekerjaan berjalan tanpa terus mengganggu interaksi pengguna.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926080"/>
            <a:ext cx="9738360" cy="54864"/>
          </a:xfrm>
          <a:prstGeom prst="rect">
            <a:avLst/>
          </a:prstGeom>
          <a:solidFill>
            <a:srgbClr val="E0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560320"/>
            <a:ext cx="731520" cy="731520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560320"/>
            <a:ext cx="21945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Aksi pengguna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182112"/>
            <a:ext cx="224028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Pengguna memulai suatu pekerjaan.</a:t>
            </a:r>
          </a:p>
        </p:txBody>
      </p:sp>
      <p:sp>
        <p:nvSpPr>
          <p:cNvPr id="11" name="Oval 10"/>
          <p:cNvSpPr/>
          <p:nvPr/>
        </p:nvSpPr>
        <p:spPr>
          <a:xfrm>
            <a:off x="4251960" y="2560320"/>
            <a:ext cx="731520" cy="73152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560320"/>
            <a:ext cx="21945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Proses berjalan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182112"/>
            <a:ext cx="224028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Pekerjaan dikelola di latar belakang.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2560320"/>
            <a:ext cx="731520" cy="731520"/>
          </a:xfrm>
          <a:prstGeom prst="ellipse">
            <a:avLst/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560320"/>
            <a:ext cx="21945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Hasil / notifikasi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3182112"/>
            <a:ext cx="224028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Status disampaikan saat dibutuhkan.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10149840" cy="868680"/>
          </a:xfrm>
          <a:prstGeom prst="roundRect">
            <a:avLst>
              <a:gd name="adj" fmla="val 12000"/>
            </a:avLst>
          </a:prstGeom>
          <a:solidFill>
            <a:srgbClr val="2C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010912"/>
            <a:ext cx="95097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Tujuan: menjaga aplikasi tetap responsif dan memberi informasi yang tepat.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BAB 4 • CATATAN PENTING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Proses latar belakang harus tetap terkelola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Pertimbangkan kapan pekerjaan dijalankan dan kapan pengguna perlu diberi kabar.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08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386584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31720"/>
            <a:ext cx="98298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Bedakan pekerjaan yang harus segera selesai dengan pekerjaan yang dapat berjalan di belakang layar.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172968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118103"/>
            <a:ext cx="98298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Berikan umpan balik agar pengguna tidak menunggu tanpa informasi.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959351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904487"/>
            <a:ext cx="98298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Gunakan notifikasi jika status atau hasil pekerjaan perlu diketahui.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745736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90872"/>
            <a:ext cx="9829800" cy="7315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Sesuaikan pengelolaan proses dengan kebutuhan aplikasi.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715000"/>
            <a:ext cx="9966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E87033"/>
                </a:solidFill>
                <a:latin typeface="Aptos"/>
              </a:rPr>
              <a:t>Kuncinya adalah keseimbangan antara proses aplikasi dan pengalaman pengguna.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BAB 5 • PENYIMPANAN LOKAL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Pilih lokasi penyimpanan berdasarkan kebutuhan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Penyimpanan internal dan eksternal memiliki konteks penggunaan yang berbeda.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507492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286000"/>
            <a:ext cx="5074920" cy="566928"/>
          </a:xfrm>
          <a:prstGeom prst="roundRect">
            <a:avLst>
              <a:gd name="adj" fmla="val 12000"/>
            </a:avLst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450592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PENYIMPANAN INTERNAL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255264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00400"/>
            <a:ext cx="4069080" cy="5394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42B30"/>
                </a:solidFill>
                <a:latin typeface="Aptos"/>
              </a:rPr>
              <a:t>Berada di ruang penyimpanan milik aplikasi.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849624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794760"/>
            <a:ext cx="4069080" cy="5394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42B30"/>
                </a:solidFill>
                <a:latin typeface="Aptos"/>
              </a:rPr>
              <a:t>Cocok untuk data yang dikelola secara privat oleh aplikasi.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443983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389120"/>
            <a:ext cx="4069080" cy="5394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42B30"/>
                </a:solidFill>
                <a:latin typeface="Aptos"/>
              </a:rPr>
              <a:t>Akses dan pengelolaannya terkait aplikasi.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286000"/>
            <a:ext cx="507492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286000"/>
            <a:ext cx="5074920" cy="566928"/>
          </a:xfrm>
          <a:prstGeom prst="roundRect">
            <a:avLst>
              <a:gd name="adj" fmla="val 12000"/>
            </a:avLst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2450592"/>
            <a:ext cx="4389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PENYIMPANAN EKSTERNAL</a:t>
            </a:r>
          </a:p>
        </p:txBody>
      </p:sp>
      <p:sp>
        <p:nvSpPr>
          <p:cNvPr id="19" name="Oval 18"/>
          <p:cNvSpPr/>
          <p:nvPr/>
        </p:nvSpPr>
        <p:spPr>
          <a:xfrm>
            <a:off x="6629400" y="3255264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200400"/>
            <a:ext cx="4069080" cy="5394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42B30"/>
                </a:solidFill>
                <a:latin typeface="Aptos"/>
              </a:rPr>
              <a:t>Digunakan untuk kebutuhan berkas pada penyimpanan eksternal.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3849624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3794760"/>
            <a:ext cx="4069080" cy="5394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42B30"/>
                </a:solidFill>
                <a:latin typeface="Aptos"/>
              </a:rPr>
              <a:t>Perhatikan lokasi dan aturan akses data.</a:t>
            </a:r>
          </a:p>
        </p:txBody>
      </p:sp>
      <p:sp>
        <p:nvSpPr>
          <p:cNvPr id="23" name="Oval 22"/>
          <p:cNvSpPr/>
          <p:nvPr/>
        </p:nvSpPr>
        <p:spPr>
          <a:xfrm>
            <a:off x="6629400" y="4443983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4389120"/>
            <a:ext cx="4069080" cy="5394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242B30"/>
                </a:solidFill>
                <a:latin typeface="Aptos"/>
              </a:rPr>
              <a:t>Sesuaikan pilihan dengan kebutuhan aplikasi.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1498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42B30"/>
                </a:solidFill>
                <a:latin typeface="Aptos"/>
              </a:rPr>
              <a:t>Tanyakan: data apa yang disimpan, siapa yang mengakses, dan kapan dibutuhkan?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BAB 5 • ALUR PENGELOLAAN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Data perlu bisa digunakan kembali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Pengelolaan penyimpanan mencakup proses menyimpan, membaca, dan memperbarui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1435607" y="2560320"/>
            <a:ext cx="713232" cy="71323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7" y="2761488"/>
            <a:ext cx="71323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520440"/>
            <a:ext cx="1783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2B30"/>
                </a:solidFill>
                <a:latin typeface="Aptos"/>
              </a:rPr>
              <a:t>Tentukan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4041648"/>
            <a:ext cx="219456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6C6F"/>
                </a:solidFill>
                <a:latin typeface="Aptos"/>
              </a:rPr>
              <a:t>Kenali jenis dan tujuan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761488"/>
            <a:ext cx="5486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87033"/>
                </a:solidFill>
                <a:latin typeface="Aptos"/>
              </a:rP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315968" y="2560320"/>
            <a:ext cx="713232" cy="713232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2761488"/>
            <a:ext cx="71323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242B3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520440"/>
            <a:ext cx="1783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2B30"/>
                </a:solidFill>
                <a:latin typeface="Aptos"/>
              </a:rPr>
              <a:t>Simpan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4041648"/>
            <a:ext cx="219456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6C6F"/>
                </a:solidFill>
                <a:latin typeface="Aptos"/>
              </a:rPr>
              <a:t>Pilih lokasi yang sesuai.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2761488"/>
            <a:ext cx="5486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87033"/>
                </a:solidFill>
                <a:latin typeface="Aptos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7196327" y="2560320"/>
            <a:ext cx="713232" cy="713232"/>
          </a:xfrm>
          <a:prstGeom prst="ellipse">
            <a:avLst/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96327" y="2761488"/>
            <a:ext cx="71323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520440"/>
            <a:ext cx="1783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2B30"/>
                </a:solidFill>
                <a:latin typeface="Aptos"/>
              </a:rPr>
              <a:t>Baca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5" y="4041648"/>
            <a:ext cx="219456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6C6F"/>
                </a:solidFill>
                <a:latin typeface="Aptos"/>
              </a:rPr>
              <a:t>Ambil data saat diperlukan.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2761488"/>
            <a:ext cx="5486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87033"/>
                </a:solidFill>
                <a:latin typeface="Aptos"/>
              </a:rP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10076688" y="2560320"/>
            <a:ext cx="713232" cy="713232"/>
          </a:xfrm>
          <a:prstGeom prst="ellipse">
            <a:avLst/>
          </a:prstGeom>
          <a:solidFill>
            <a:srgbClr val="2C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76688" y="2761488"/>
            <a:ext cx="713232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3520440"/>
            <a:ext cx="1783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242B30"/>
                </a:solidFill>
                <a:latin typeface="Aptos"/>
              </a:rPr>
              <a:t>Kelola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4041648"/>
            <a:ext cx="219456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646C6F"/>
                </a:solidFill>
                <a:latin typeface="Aptos"/>
              </a:rPr>
              <a:t>Perbarui atau hapus sesuai kebutuhan.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303520"/>
            <a:ext cx="9966960" cy="502920"/>
          </a:xfrm>
          <a:prstGeom prst="roundRect">
            <a:avLst>
              <a:gd name="adj" fmla="val 12000"/>
            </a:avLst>
          </a:prstGeom>
          <a:solidFill>
            <a:srgbClr val="F4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5449824"/>
            <a:ext cx="95097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242B30"/>
                </a:solidFill>
                <a:latin typeface="Aptos"/>
              </a:rPr>
              <a:t>Prinsip: pilih tempat penyimpanan berdasarkan kebutuhan, bukan sekadar kebiasaan.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BAB 6 • FIREBASE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Menyimpan data melalui layanan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Firebase diperkenalkan sebagai layanan eksternal untuk mendukung penyimpanan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5029200" y="2788920"/>
            <a:ext cx="1828800" cy="1828800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3401568"/>
            <a:ext cx="1645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Firebase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31720"/>
            <a:ext cx="28346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331720"/>
            <a:ext cx="2834640" cy="109728"/>
          </a:xfrm>
          <a:prstGeom prst="rect">
            <a:avLst/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560320"/>
            <a:ext cx="2514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2B30"/>
                </a:solidFill>
                <a:latin typeface="Aptos"/>
              </a:rPr>
              <a:t>Aplikasi Android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907791"/>
            <a:ext cx="2514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6C6F"/>
                </a:solidFill>
                <a:latin typeface="Aptos"/>
              </a:rPr>
              <a:t>Mengirim atau meminta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331720"/>
            <a:ext cx="28346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331720"/>
            <a:ext cx="2834640" cy="109728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560320"/>
            <a:ext cx="2514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2B30"/>
                </a:solidFill>
                <a:latin typeface="Aptos"/>
              </a:rPr>
              <a:t>Layanan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907791"/>
            <a:ext cx="2514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6C6F"/>
                </a:solidFill>
                <a:latin typeface="Aptos"/>
              </a:rPr>
              <a:t>Data dikelola melalui Firebase.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892040"/>
            <a:ext cx="28346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4892040"/>
            <a:ext cx="2834640" cy="109728"/>
          </a:xfrm>
          <a:prstGeom prst="rect">
            <a:avLst/>
          </a:prstGeom>
          <a:solidFill>
            <a:srgbClr val="2C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28031" y="5120640"/>
            <a:ext cx="2514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242B30"/>
                </a:solidFill>
                <a:latin typeface="Aptos"/>
              </a:rPr>
              <a:t>Hasil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1" y="5468112"/>
            <a:ext cx="2514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46C6F"/>
                </a:solidFill>
                <a:latin typeface="Aptos"/>
              </a:rPr>
              <a:t>Data digunakan kembali oleh aplikasi.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154680"/>
            <a:ext cx="822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87033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154680"/>
            <a:ext cx="822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E87033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4416552"/>
            <a:ext cx="8229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E87033"/>
                </a:solidFill>
                <a:latin typeface="Aptos"/>
              </a:rPr>
              <a:t>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BAB 6 • GAMBARAN PENERAPAN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Urutan umum menghubungkan aplikasi dan Firebase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Konfigurasi dan struktur data harus sesuai dengan kebutuhan proyek.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386584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331720"/>
            <a:ext cx="10012680" cy="603503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Siapkan proyek Android dan proyek Firebase.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044951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990087"/>
            <a:ext cx="10012680" cy="603503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Hubungkan aplikasi ke proyek Firebase sesuai konfigurasi.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703320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648456"/>
            <a:ext cx="10012680" cy="603503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Tentukan data yang akan disimpan serta struktur yang digunakan.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361688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06824"/>
            <a:ext cx="10012680" cy="603503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Implementasikan operasi penyimpanan dan pembacaan data.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020055"/>
            <a:ext cx="118872" cy="118872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965192"/>
            <a:ext cx="10012680" cy="603503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242B30"/>
                </a:solidFill>
                <a:latin typeface="Aptos"/>
              </a:rPr>
              <a:t>Uji apakah aplikasi dapat mengirim dan memperoleh data dengan benar.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806440"/>
            <a:ext cx="10058400" cy="384048"/>
          </a:xfrm>
          <a:prstGeom prst="roundRect">
            <a:avLst>
              <a:gd name="adj" fmla="val 12000"/>
            </a:avLst>
          </a:prstGeom>
          <a:solidFill>
            <a:srgbClr val="2C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897880"/>
            <a:ext cx="969264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Ringkasan alur; detail implementasi mengikuti pembahasan dalam buku sumber.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MEMBANDINGKAN PENDEKATAN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Lokal atau cloud? Mulai dari kebutuhan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Penyimpanan lokal dan Firebase dapat dipahami sebagai pilihan dengan konteks berbeda.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86000"/>
            <a:ext cx="103784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286000"/>
            <a:ext cx="146304" cy="777240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50592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468880"/>
            <a:ext cx="6766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6C6F"/>
                </a:solidFill>
                <a:latin typeface="Aptos"/>
              </a:rPr>
              <a:t>Data dikelola di ruang penyimpanan aplikasi.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337560"/>
            <a:ext cx="103784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337560"/>
            <a:ext cx="146304" cy="777240"/>
          </a:xfrm>
          <a:prstGeom prst="rect">
            <a:avLst/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502152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Eksternal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520440"/>
            <a:ext cx="6766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6C6F"/>
                </a:solidFill>
                <a:latin typeface="Aptos"/>
              </a:rPr>
              <a:t>Berkas ditempatkan di area penyimpanan eksternal.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389120"/>
            <a:ext cx="1037844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0D8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389120"/>
            <a:ext cx="146304" cy="777240"/>
          </a:xfrm>
          <a:prstGeom prst="rect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553712"/>
            <a:ext cx="27432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Firebase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572000"/>
            <a:ext cx="67665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6C6F"/>
                </a:solidFill>
                <a:latin typeface="Aptos"/>
              </a:rPr>
              <a:t>Data menggunakan layanan cloud.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15000"/>
            <a:ext cx="100584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E87033"/>
                </a:solidFill>
                <a:latin typeface="Aptos"/>
              </a:rPr>
              <a:t>Keputusan ditentukan oleh kebutuhan akses, jenis data, dan cara aplikasi menggunakannya.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E87033"/>
                </a:solidFill>
                <a:latin typeface="Aptos"/>
              </a:rPr>
              <a:t>UJI PEMAHAMAN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78992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700" b="1">
                <a:solidFill>
                  <a:srgbClr val="242B30"/>
                </a:solidFill>
                <a:latin typeface="Aptos"/>
              </a:rPr>
              <a:t>Coba jawab tanpa melihat catatan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46C6F"/>
                </a:solidFill>
                <a:latin typeface="Aptos"/>
              </a:rPr>
              <a:t>Pertanyaan ini membantu memeriksa pemahaman dari seluruh bab.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55648"/>
            <a:ext cx="914400" cy="50292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/>
            <a:r>
              <a:rPr sz="900" b="1">
                <a:solidFill>
                  <a:srgbClr val="646C6F"/>
                </a:solidFill>
                <a:latin typeface="Aptos"/>
              </a:rP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21992"/>
            <a:ext cx="93268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Apa fungsi Activity, Intent, dan Fragment?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40" y="2743200"/>
            <a:ext cx="9052560" cy="18288"/>
          </a:xfrm>
          <a:prstGeom prst="rect">
            <a:avLst/>
          </a:prstGeom>
          <a:solidFill>
            <a:srgbClr val="E0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990088"/>
            <a:ext cx="502920" cy="50292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2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242B3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063240"/>
            <a:ext cx="93268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Apa yang perlu diperhatikan saat merancang UI/UX?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3584448"/>
            <a:ext cx="9052560" cy="18288"/>
          </a:xfrm>
          <a:prstGeom prst="rect">
            <a:avLst/>
          </a:prstGeom>
          <a:solidFill>
            <a:srgbClr val="E0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831336"/>
            <a:ext cx="502920" cy="502920"/>
          </a:xfrm>
          <a:prstGeom prst="ellipse">
            <a:avLst/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77640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04488"/>
            <a:ext cx="93268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Mengapa aplikasi menggunakan background task?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4425696"/>
            <a:ext cx="9052560" cy="18288"/>
          </a:xfrm>
          <a:prstGeom prst="rect">
            <a:avLst/>
          </a:prstGeom>
          <a:solidFill>
            <a:srgbClr val="E0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672584"/>
            <a:ext cx="502920" cy="502920"/>
          </a:xfrm>
          <a:prstGeom prst="ellipse">
            <a:avLst/>
          </a:prstGeom>
          <a:solidFill>
            <a:srgbClr val="2C3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18888"/>
            <a:ext cx="502920" cy="164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745736"/>
            <a:ext cx="93268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42B30"/>
                </a:solidFill>
                <a:latin typeface="Aptos"/>
              </a:rPr>
              <a:t>Apa perbedaan penyimpanan internal, eksternal, dan Firebase?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5266944"/>
            <a:ext cx="9052560" cy="18288"/>
          </a:xfrm>
          <a:prstGeom prst="rect">
            <a:avLst/>
          </a:prstGeom>
          <a:solidFill>
            <a:srgbClr val="E0D8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6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2743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B84B"/>
                </a:solidFill>
                <a:latin typeface="Aptos"/>
              </a:rPr>
              <a:t>RANGKUMAN AKHIR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987552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Bangun aplikasi dengan alur yang jelas.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38528"/>
            <a:ext cx="96012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500" b="0">
                <a:solidFill>
                  <a:srgbClr val="D3D8D6"/>
                </a:solidFill>
                <a:latin typeface="Aptos"/>
              </a:rPr>
              <a:t>Enam bab membentuk gambaran menyeluruh tentang aplikasi Android.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146304" cy="384048"/>
          </a:xfrm>
          <a:prstGeom prst="roundRect">
            <a:avLst>
              <a:gd name="adj" fmla="val 12000"/>
            </a:avLst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61488"/>
            <a:ext cx="15087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B84B"/>
                </a:solidFill>
                <a:latin typeface="Aptos"/>
              </a:rPr>
              <a:t>DASAR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2761488"/>
            <a:ext cx="795527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Kenali platform dan alat pengembangan.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64992"/>
            <a:ext cx="146304" cy="384048"/>
          </a:xfrm>
          <a:prstGeom prst="roundRect">
            <a:avLst>
              <a:gd name="adj" fmla="val 12000"/>
            </a:avLst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15087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B84B"/>
                </a:solidFill>
                <a:latin typeface="Aptos"/>
              </a:rPr>
              <a:t>STRUKTUR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383280"/>
            <a:ext cx="795527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Pahami komponen dan hubungannya.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986784"/>
            <a:ext cx="146304" cy="384048"/>
          </a:xfrm>
          <a:prstGeom prst="roundRect">
            <a:avLst>
              <a:gd name="adj" fmla="val 12000"/>
            </a:avLst>
          </a:prstGeom>
          <a:solidFill>
            <a:srgbClr val="6F8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005072"/>
            <a:ext cx="15087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B84B"/>
                </a:solidFill>
                <a:latin typeface="Aptos"/>
              </a:rPr>
              <a:t>PENGALAMAN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005072"/>
            <a:ext cx="795527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Buat antarmuka yang jelas dan mudah digunakan.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08576"/>
            <a:ext cx="146304" cy="384048"/>
          </a:xfrm>
          <a:prstGeom prst="roundRect">
            <a:avLst>
              <a:gd name="adj" fmla="val 12000"/>
            </a:avLst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626864"/>
            <a:ext cx="15087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B84B"/>
                </a:solidFill>
                <a:latin typeface="Aptos"/>
              </a:rPr>
              <a:t>PROSES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626864"/>
            <a:ext cx="795527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Kelola pekerjaan di latar belakang.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230368"/>
            <a:ext cx="146304" cy="384048"/>
          </a:xfrm>
          <a:prstGeom prst="roundRect">
            <a:avLst>
              <a:gd name="adj" fmla="val 12000"/>
            </a:avLst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248656"/>
            <a:ext cx="15087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2B84B"/>
                </a:solidFill>
                <a:latin typeface="Aptos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5248656"/>
            <a:ext cx="7955279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Pilih penyimpanan lokal atau Firebase sesuai kebutuhan.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263640"/>
            <a:ext cx="54864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BEC6C3"/>
                </a:solidFill>
                <a:latin typeface="Aptos"/>
              </a:rPr>
              <a:t>PEMROGRAMAN MOBILE ANDROID • JAVA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822960"/>
            <a:ext cx="1143000" cy="1143000"/>
          </a:xfrm>
          <a:prstGeom prst="ellipse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70432"/>
            <a:ext cx="11430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914400"/>
            <a:ext cx="8686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42B30"/>
                </a:solidFill>
                <a:latin typeface="Aptos"/>
              </a:rPr>
              <a:t>Referensi materi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886968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900" b="1">
                <a:solidFill>
                  <a:srgbClr val="242B30"/>
                </a:solidFill>
                <a:latin typeface="Aptos"/>
              </a:rPr>
              <a:t>Erma Susanti. Pemrograman Mobile Android dengan Java.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2606040"/>
            <a:ext cx="81381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6C6F"/>
                </a:solidFill>
                <a:latin typeface="Aptos"/>
              </a:rPr>
              <a:t>Desember 2020 • Bab 1 sampai Bab 6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3291840"/>
            <a:ext cx="914400" cy="54864"/>
          </a:xfrm>
          <a:prstGeom prst="rect">
            <a:avLst/>
          </a:prstGeom>
          <a:solidFill>
            <a:srgbClr val="E87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3657600"/>
            <a:ext cx="8138160" cy="9144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46C6F"/>
                </a:solidFill>
                <a:latin typeface="Aptos"/>
              </a:rPr>
              <a:t>Disusun sebagai rangkuman materi untuk membantu belajar dan presentasi. Detail teknis mengikuti pembahasan pada buku sumber.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2412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/>
            <a:r>
              <a:rPr sz="1800" b="1">
                <a:solidFill>
                  <a:srgbClr val="E87033"/>
                </a:solidFill>
                <a:latin typeface="Aptos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